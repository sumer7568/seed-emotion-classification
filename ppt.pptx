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68" r:id="rId2"/>
    <p:sldId id="257" r:id="rId3"/>
    <p:sldId id="26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719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898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Negative</c:v>
                </c:pt>
                <c:pt idx="1">
                  <c:v>Neutral</c:v>
                </c:pt>
                <c:pt idx="2">
                  <c:v>Positive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0.59</c:v>
                </c:pt>
                <c:pt idx="1">
                  <c:v>0.56000000000000005</c:v>
                </c:pt>
                <c:pt idx="2">
                  <c:v>0.84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35-494E-9C98-B943F26D5F6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Negative</c:v>
                </c:pt>
                <c:pt idx="1">
                  <c:v>Neutral</c:v>
                </c:pt>
                <c:pt idx="2">
                  <c:v>Positive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0.55000000000000004</c:v>
                </c:pt>
                <c:pt idx="1">
                  <c:v>0.69</c:v>
                </c:pt>
                <c:pt idx="2">
                  <c:v>0.72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35-494E-9C98-B943F26D5F6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Negative</c:v>
                </c:pt>
                <c:pt idx="1">
                  <c:v>Neutral</c:v>
                </c:pt>
                <c:pt idx="2">
                  <c:v>Positive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0.56999999999999995</c:v>
                </c:pt>
                <c:pt idx="1">
                  <c:v>0.62</c:v>
                </c:pt>
                <c:pt idx="2">
                  <c:v>0.78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D35-494E-9C98-B943F26D5F6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1E3A5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72A46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72A4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80868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D78229-8FFB-42EA-B382-0D70279AA5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57" y="6350"/>
            <a:ext cx="9093286" cy="51435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2E0596-E96A-4EDD-A66E-A51BC2245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19" y="4133849"/>
            <a:ext cx="2217881" cy="1714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CC3A4C7-DB1E-4ABA-9F98-A05DF1E46E35}"/>
              </a:ext>
            </a:extLst>
          </p:cNvPr>
          <p:cNvSpPr txBox="1"/>
          <p:nvPr/>
        </p:nvSpPr>
        <p:spPr>
          <a:xfrm>
            <a:off x="741219" y="4067859"/>
            <a:ext cx="20256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solidFill>
                  <a:schemeClr val="bg1"/>
                </a:solidFill>
              </a:rPr>
              <a:t>Electrical Engineering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68009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097280" cy="457200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54864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023360" cy="3291840"/>
          </a:xfrm>
          <a:prstGeom prst="rect">
            <a:avLst/>
          </a:prstGeom>
          <a:solidFill>
            <a:srgbClr val="172A46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77240"/>
            <a:ext cx="4023360" cy="365760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77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23444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emotions are complex &amp; subjective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methods rely on facial expressions or self-reports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easily faked or inaccurate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brain signals cannot be masked — they are direct neural measurements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emotion recognition is critical for mental health, education &amp; HCI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846320" y="777240"/>
            <a:ext cx="4023360" cy="3291840"/>
          </a:xfrm>
          <a:prstGeom prst="rect">
            <a:avLst/>
          </a:prstGeom>
          <a:solidFill>
            <a:srgbClr val="172A46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777240"/>
            <a:ext cx="4023360" cy="3657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7772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123444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SEED EEG dataset (62-channel, 3-class emotions)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de_LDS features — 310 features per second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PCA to reduce noise and dimensionality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 SVM classifier with balanced class weights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emotion states to personalized study recommendations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72A46"/>
          </a:solidFill>
          <a:ln w="12700">
            <a:solidFill>
              <a:srgbClr val="172A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EEG-Based Emotion Classification  |  SEED Dataset &amp; SVM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44C68FB-BC82-4413-96C8-5276096627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899"/>
            <a:ext cx="9144000" cy="5097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857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097280" cy="457200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54864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" y="1188720"/>
            <a:ext cx="1417320" cy="1188720"/>
          </a:xfrm>
          <a:prstGeom prst="rect">
            <a:avLst/>
          </a:prstGeom>
          <a:solidFill>
            <a:srgbClr val="172A46"/>
          </a:solidFill>
          <a:ln w="25400">
            <a:solidFill>
              <a:srgbClr val="00C4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" y="1188720"/>
            <a:ext cx="1417320" cy="256032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18872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8600" y="146304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Data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(SEED Dataset)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28600" y="202996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Channels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Subjects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691640" y="1691640"/>
            <a:ext cx="201168" cy="54864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0" y="1618488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965960" y="1188720"/>
            <a:ext cx="1417320" cy="1188720"/>
          </a:xfrm>
          <a:prstGeom prst="rect">
            <a:avLst/>
          </a:prstGeom>
          <a:solidFill>
            <a:srgbClr val="172A46"/>
          </a:solidFill>
          <a:ln w="25400">
            <a:solidFill>
              <a:srgbClr val="4FC3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65960" y="1188720"/>
            <a:ext cx="1417320" cy="2560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65960" y="118872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965960" y="146304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65960" y="202996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de_LDS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 Features/sec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29000" y="1691640"/>
            <a:ext cx="201168" cy="54864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1618488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703320" y="1188720"/>
            <a:ext cx="1417320" cy="1188720"/>
          </a:xfrm>
          <a:prstGeom prst="rect">
            <a:avLst/>
          </a:prstGeom>
          <a:solidFill>
            <a:srgbClr val="172A46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703320" y="1188720"/>
            <a:ext cx="1417320" cy="2560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03320" y="118872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703320" y="146304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03320" y="202996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 Variance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Filtered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166360" y="1691640"/>
            <a:ext cx="201168" cy="54864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0" y="1618488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440680" y="1188720"/>
            <a:ext cx="1417320" cy="1188720"/>
          </a:xfrm>
          <a:prstGeom prst="rect">
            <a:avLst/>
          </a:prstGeom>
          <a:solidFill>
            <a:srgbClr val="172A46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40680" y="1188720"/>
            <a:ext cx="1417320" cy="25603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40680" y="118872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40680" y="146304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440680" y="202996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Weights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RBF/Linear Kernel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03720" y="1691640"/>
            <a:ext cx="201168" cy="54864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0880" y="1618488"/>
            <a:ext cx="1371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178040" y="1188720"/>
            <a:ext cx="1417320" cy="1188720"/>
          </a:xfrm>
          <a:prstGeom prst="rect">
            <a:avLst/>
          </a:prstGeom>
          <a:solidFill>
            <a:srgbClr val="172A46"/>
          </a:solidFill>
          <a:ln w="25400">
            <a:solidFill>
              <a:srgbClr val="00C4C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78040" y="1207008"/>
            <a:ext cx="1417320" cy="256032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78040" y="1188720"/>
            <a:ext cx="1417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178040" y="146304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178040" y="2029968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Positive/Neutral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/Negative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286000" y="2743200"/>
            <a:ext cx="4572000" cy="1005840"/>
          </a:xfrm>
          <a:prstGeom prst="rect">
            <a:avLst/>
          </a:prstGeom>
          <a:solidFill>
            <a:srgbClr val="172A46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86000" y="2743200"/>
            <a:ext cx="4572000" cy="274320"/>
          </a:xfrm>
          <a:prstGeom prst="rect">
            <a:avLst/>
          </a:prstGeom>
          <a:solidFill>
            <a:srgbClr val="4FC3F7">
              <a:alpha val="8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377440" y="3044952"/>
            <a:ext cx="4389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→ Personalized Study Action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(Deep Work tasks, Pomodoro sessions, focus strategies)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070350" y="4416552"/>
            <a:ext cx="6832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2194560" y="371246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output feeds adaptive recommendation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72A46"/>
          </a:solidFill>
          <a:ln w="12700">
            <a:solidFill>
              <a:srgbClr val="172A4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EEG-Based Emotion Classification  |  SEED Dataset &amp; SVM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097280" cy="457200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54864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Feature Engineering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023360" cy="4023360"/>
          </a:xfrm>
          <a:prstGeom prst="rect">
            <a:avLst/>
          </a:prstGeom>
          <a:solidFill>
            <a:srgbClr val="172A46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77240"/>
            <a:ext cx="4023360" cy="347472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772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Dataset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" y="126187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737360" y="1335024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Channels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" y="193852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737360" y="2011680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2615184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737360" y="2688336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 Each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" y="32918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30546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1737360" y="336499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Samples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11480" y="3968496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737360" y="4041648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Features/second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777240"/>
            <a:ext cx="4023360" cy="34747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77724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37760" y="1234440"/>
            <a:ext cx="54864" cy="6400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12344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de_LDS Features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074920" y="1481328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Entropy smoothed by Linear Dynamic System (LDS) — captures temporal dynamics of EEG brain activity across 5 frequency bands.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37760" y="2121408"/>
            <a:ext cx="54864" cy="6400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21214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Second-by-Second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074920" y="2368296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processed every 1 second rather than averaged over whole trials — captures micro-fluctuations in emotional states.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937760" y="3008376"/>
            <a:ext cx="54864" cy="6400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74920" y="3008376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(95% variance)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074920" y="3255264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 Component Analysis reduces dimensionality, removes noise and collinear features, speeds up SVM training.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937760" y="3895344"/>
            <a:ext cx="54864" cy="640080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74920" y="389534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Balancing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074920" y="4142232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trained with balanced class weights to handle unequal class distribution in the SEED dataset fairly.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72A46"/>
          </a:solidFill>
          <a:ln w="12700">
            <a:solidFill>
              <a:srgbClr val="172A4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EEG-Based Emotion Classification  |  SEED Dataset &amp; SVM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097280" cy="457200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54864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Classifier &amp; Training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1051560"/>
          </a:xfrm>
          <a:prstGeom prst="rect">
            <a:avLst/>
          </a:prstGeom>
          <a:solidFill>
            <a:srgbClr val="172A46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0467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SVM for EEG?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0972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Support Vector Machines find the optimal hyperplane to maximize the margin between classes. We specifically utilized an </a:t>
            </a:r>
            <a:r>
              <a:rPr lang="en-US" sz="1100" b="1" dirty="0">
                <a:solidFill>
                  <a:schemeClr val="bg1"/>
                </a:solidFill>
              </a:rPr>
              <a:t>RBF (Radial Basis Function) Kernel</a:t>
            </a:r>
            <a:r>
              <a:rPr lang="en-US" sz="1100" dirty="0">
                <a:solidFill>
                  <a:schemeClr val="bg1"/>
                </a:solidFill>
              </a:rPr>
              <a:t>, which excels at handling the highly non-linear separability inherent in human brainwaves.</a:t>
            </a:r>
          </a:p>
        </p:txBody>
      </p:sp>
      <p:sp>
        <p:nvSpPr>
          <p:cNvPr id="9" name="Shape 7"/>
          <p:cNvSpPr/>
          <p:nvPr/>
        </p:nvSpPr>
        <p:spPr>
          <a:xfrm>
            <a:off x="274320" y="2011680"/>
            <a:ext cx="2743200" cy="2971800"/>
          </a:xfrm>
          <a:prstGeom prst="rect">
            <a:avLst/>
          </a:prstGeom>
          <a:solidFill>
            <a:srgbClr val="172A46"/>
          </a:solidFill>
          <a:ln w="12700">
            <a:solidFill>
              <a:srgbClr val="00C4CC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Shape 8"/>
          <p:cNvSpPr/>
          <p:nvPr/>
        </p:nvSpPr>
        <p:spPr>
          <a:xfrm>
            <a:off x="384048" y="2176272"/>
            <a:ext cx="475488" cy="475488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1762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32688" y="212140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IN" sz="1200" b="1" dirty="0">
                <a:solidFill>
                  <a:schemeClr val="bg1"/>
                </a:solidFill>
              </a:rPr>
              <a:t>Hyperparameter Tuning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384048" y="2560320"/>
            <a:ext cx="2514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Implemented an RBF Kernel with a regularization parameter (C =10) to strictly penalize misclassifications, and gamma = “scale” to adapt to the variance of the EEG features.</a:t>
            </a:r>
          </a:p>
        </p:txBody>
      </p:sp>
      <p:sp>
        <p:nvSpPr>
          <p:cNvPr id="14" name="Shape 12"/>
          <p:cNvSpPr/>
          <p:nvPr/>
        </p:nvSpPr>
        <p:spPr>
          <a:xfrm>
            <a:off x="3200400" y="2011680"/>
            <a:ext cx="2743200" cy="2971800"/>
          </a:xfrm>
          <a:prstGeom prst="rect">
            <a:avLst/>
          </a:prstGeom>
          <a:solidFill>
            <a:srgbClr val="172A46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10128" y="2176272"/>
            <a:ext cx="475488" cy="475488"/>
          </a:xfrm>
          <a:prstGeom prst="ellipse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0128" y="21762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858768" y="212140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IN" sz="1200" b="1" dirty="0">
                <a:solidFill>
                  <a:schemeClr val="bg1"/>
                </a:solidFill>
              </a:rPr>
              <a:t>Class Weight Balancing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3310128" y="2560320"/>
            <a:ext cx="2514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Applied class weight equals balanced within the SVM architecture. This mathematically penalizes the model for over-predicting the majority class, forcing it to learn the distinct borders of Negative, Neutral, and Positive states equally.</a:t>
            </a:r>
          </a:p>
        </p:txBody>
      </p:sp>
      <p:sp>
        <p:nvSpPr>
          <p:cNvPr id="19" name="Shape 17"/>
          <p:cNvSpPr/>
          <p:nvPr/>
        </p:nvSpPr>
        <p:spPr>
          <a:xfrm>
            <a:off x="6126480" y="2011680"/>
            <a:ext cx="2743200" cy="3040380"/>
          </a:xfrm>
          <a:prstGeom prst="rect">
            <a:avLst/>
          </a:prstGeom>
          <a:solidFill>
            <a:srgbClr val="172A46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36208" y="2176272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36208" y="21762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84848" y="212140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IN" sz="1200" dirty="0">
                <a:solidFill>
                  <a:schemeClr val="bg1"/>
                </a:solidFill>
              </a:rPr>
              <a:t>State Smoothing Logic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6236208" y="2560320"/>
            <a:ext cx="2514600" cy="15468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bg1"/>
                </a:solidFill>
              </a:rPr>
              <a:t>Real-time SVM predictions are volatile. We built a custom algorithm to calculate the modal prediction over a rolling 300-sample time window, converting erratic second-by-second guesses into a stable, dominant cognitive state.</a:t>
            </a:r>
          </a:p>
        </p:txBody>
      </p:sp>
      <p:sp>
        <p:nvSpPr>
          <p:cNvPr id="26" name="Text 24"/>
          <p:cNvSpPr/>
          <p:nvPr/>
        </p:nvSpPr>
        <p:spPr>
          <a:xfrm>
            <a:off x="384048" y="3547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32688" y="349300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84048" y="393192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10128" y="3547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858768" y="349300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10128" y="393192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36208" y="354787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236208" y="393192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72A46"/>
          </a:solidFill>
          <a:ln w="12700">
            <a:solidFill>
              <a:srgbClr val="172A4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EEG-Based Emotion Classification  |  SEED Dataset &amp; SVM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097280" cy="457200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54864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743200" cy="4023360"/>
          </a:xfrm>
          <a:prstGeom prst="rect">
            <a:avLst/>
          </a:prstGeom>
          <a:solidFill>
            <a:srgbClr val="172A46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77240"/>
            <a:ext cx="27432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77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😊 Positive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3533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is HIGH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1719072"/>
            <a:ext cx="1828800" cy="27432"/>
          </a:xfrm>
          <a:prstGeom prst="rect">
            <a:avLst/>
          </a:prstGeom>
          <a:solidFill>
            <a:srgbClr val="10B981">
              <a:alpha val="60000"/>
            </a:srgbClr>
          </a:solidFill>
          <a:ln w="12700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1051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Actions: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2121408"/>
            <a:ext cx="2468880" cy="566928"/>
          </a:xfrm>
          <a:prstGeom prst="rect">
            <a:avLst/>
          </a:prstGeom>
          <a:solidFill>
            <a:srgbClr val="112240"/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57984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Complex Problem Solving / Math Sets (Deep Work)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11480" y="2779776"/>
            <a:ext cx="2468880" cy="566928"/>
          </a:xfrm>
          <a:prstGeom prst="rect">
            <a:avLst/>
          </a:prstGeom>
          <a:solidFill>
            <a:srgbClr val="112240"/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16352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Pomodoro Study Session (50/10) (Deep Work)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438144"/>
            <a:ext cx="2468880" cy="566928"/>
          </a:xfrm>
          <a:prstGeom prst="rect">
            <a:avLst/>
          </a:prstGeom>
          <a:solidFill>
            <a:srgbClr val="112240"/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474720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Learn New Concepts or Chapters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27832" y="777240"/>
            <a:ext cx="2743200" cy="4023360"/>
          </a:xfrm>
          <a:prstGeom prst="rect">
            <a:avLst/>
          </a:prstGeom>
          <a:solidFill>
            <a:srgbClr val="172A46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27832" y="777240"/>
            <a:ext cx="274320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27832" y="777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😐 Neutral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19272" y="13533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is MODERATE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85032" y="1719072"/>
            <a:ext cx="1828800" cy="27432"/>
          </a:xfrm>
          <a:prstGeom prst="rect">
            <a:avLst/>
          </a:prstGeom>
          <a:solidFill>
            <a:srgbClr val="F59E0B">
              <a:alpha val="60000"/>
            </a:srgbClr>
          </a:solidFill>
          <a:ln w="1270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64992" y="181051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Actions: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364992" y="2121408"/>
            <a:ext cx="2468880" cy="566928"/>
          </a:xfrm>
          <a:prstGeom prst="rect">
            <a:avLst/>
          </a:prstGeom>
          <a:solidFill>
            <a:srgbClr val="112240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10712" y="2157984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Review Notes / Flashcards (Spaced Repetition)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64992" y="2779776"/>
            <a:ext cx="2468880" cy="566928"/>
          </a:xfrm>
          <a:prstGeom prst="rect">
            <a:avLst/>
          </a:prstGeom>
          <a:solidFill>
            <a:srgbClr val="112240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10712" y="2816352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Light Reading / Summarizing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64992" y="3438144"/>
            <a:ext cx="2468880" cy="566928"/>
          </a:xfrm>
          <a:prstGeom prst="rect">
            <a:avLst/>
          </a:prstGeom>
          <a:solidFill>
            <a:srgbClr val="112240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10712" y="3474720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Practice Problems (Medium Difficulty)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81344" y="777240"/>
            <a:ext cx="2743200" cy="4023360"/>
          </a:xfrm>
          <a:prstGeom prst="rect">
            <a:avLst/>
          </a:prstGeom>
          <a:solidFill>
            <a:srgbClr val="172A46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81344" y="777240"/>
            <a:ext cx="2743200" cy="4572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81344" y="7772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😔 Negative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272784" y="135331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is LOW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638544" y="1719072"/>
            <a:ext cx="1828800" cy="27432"/>
          </a:xfrm>
          <a:prstGeom prst="rect">
            <a:avLst/>
          </a:prstGeom>
          <a:solidFill>
            <a:srgbClr val="E74C3C">
              <a:alpha val="60000"/>
            </a:srgbClr>
          </a:solidFill>
          <a:ln w="12700">
            <a:solidFill>
              <a:srgbClr val="E74C3C">
                <a:alpha val="6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18504" y="1810512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Actions: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318504" y="2121408"/>
            <a:ext cx="2468880" cy="566928"/>
          </a:xfrm>
          <a:prstGeom prst="rect">
            <a:avLst/>
          </a:prstGeom>
          <a:solidFill>
            <a:srgbClr val="112240"/>
          </a:solidFill>
          <a:ln w="12700">
            <a:solidFill>
              <a:srgbClr val="E74C3C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64224" y="2157984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Take a Short Break (5-10 mins)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318504" y="2779776"/>
            <a:ext cx="2468880" cy="566928"/>
          </a:xfrm>
          <a:prstGeom prst="rect">
            <a:avLst/>
          </a:prstGeom>
          <a:solidFill>
            <a:srgbClr val="112240"/>
          </a:solidFill>
          <a:ln w="12700">
            <a:solidFill>
              <a:srgbClr val="E74C3C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64224" y="2816352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Mindfulness / Deep Breathing Exercise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318504" y="3438144"/>
            <a:ext cx="2468880" cy="566928"/>
          </a:xfrm>
          <a:prstGeom prst="rect">
            <a:avLst/>
          </a:prstGeom>
          <a:solidFill>
            <a:srgbClr val="112240"/>
          </a:solidFill>
          <a:ln w="12700">
            <a:solidFill>
              <a:srgbClr val="E74C3C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64224" y="3474720"/>
            <a:ext cx="23774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Watch Educational Video (Passive Learning)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72A46"/>
          </a:solidFill>
          <a:ln w="12700">
            <a:solidFill>
              <a:srgbClr val="172A4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EEG-Based Emotion Classification  |  SEED Dataset &amp; SVM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097280" cy="457200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54864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Classification Metrics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95360" cy="777240"/>
          </a:xfrm>
          <a:prstGeom prst="rect">
            <a:avLst/>
          </a:prstGeom>
          <a:solidFill>
            <a:srgbClr val="172A46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22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26080" y="777240"/>
            <a:ext cx="2286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65.17%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303520" y="841248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Samples: 30,546  |  Balanced SVM  |  PCA (95% variance)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19072"/>
          <a:ext cx="8229600" cy="237744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😔 Negative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10,080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😐 Neutral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9,936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22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😊 Positive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10,530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A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Avg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4FC3F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30,546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57200" y="4498848"/>
            <a:ext cx="8229600" cy="365760"/>
          </a:xfrm>
          <a:prstGeom prst="rect">
            <a:avLst/>
          </a:prstGeom>
          <a:solidFill>
            <a:srgbClr val="172A46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4526280"/>
            <a:ext cx="8046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Positive emotion shows highest precision (0.84) — model is most reliable when user is engaged and happy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72A46"/>
          </a:solidFill>
          <a:ln w="12700">
            <a:solidFill>
              <a:srgbClr val="172A4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EEG-Based Emotion Classification  |  SEED Dataset &amp; SVM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097280" cy="457200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54864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Confusion Matrix</a:t>
            </a:r>
            <a:endParaRPr lang="en-US" sz="2800" dirty="0"/>
          </a:p>
        </p:txBody>
      </p:sp>
      <p:pic>
        <p:nvPicPr>
          <p:cNvPr id="6" name="Image 0" descr="/home/claude/confusion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700046"/>
            <a:ext cx="3421380" cy="2409168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943600" y="685800"/>
            <a:ext cx="2926080" cy="4114800"/>
          </a:xfrm>
          <a:prstGeom prst="rect">
            <a:avLst/>
          </a:prstGeom>
          <a:solidFill>
            <a:srgbClr val="172A46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0" y="685800"/>
            <a:ext cx="2926080" cy="347472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943600" y="68580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89320" y="1170432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7,574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035040" y="149961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correctly classified (highest)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989320" y="1975104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6,835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035040" y="230428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correctly classified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5989320" y="2779776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5,499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6035040" y="310896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correctly classified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5989320" y="3584448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4,180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6035040" y="391363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→ Neutral confusion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72A46"/>
          </a:solidFill>
          <a:ln w="12700">
            <a:solidFill>
              <a:srgbClr val="172A4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EEG-Based Emotion Classification  |  SEED Dataset &amp; SVM</a:t>
            </a:r>
            <a:endParaRPr lang="en-US" sz="8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456446A7-3AA3-4814-B2AA-C78262513C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147816"/>
            <a:ext cx="4445000" cy="17086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1097280" cy="457200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54864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914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Performance Chart</a:t>
            </a:r>
            <a:endParaRPr lang="en-US" sz="28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274320" y="749808"/>
          <a:ext cx="56692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126480" y="749808"/>
            <a:ext cx="2743200" cy="4023360"/>
          </a:xfrm>
          <a:prstGeom prst="rect">
            <a:avLst/>
          </a:prstGeom>
          <a:solidFill>
            <a:srgbClr val="172A46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126480" y="749808"/>
            <a:ext cx="2743200" cy="34747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126480" y="7498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Summary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217920" y="1207008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217920" y="143560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65.17%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63640" y="1728216"/>
            <a:ext cx="2468880" cy="18288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0" y="1783080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Avg Precision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217920" y="2011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263640" y="2304288"/>
            <a:ext cx="2468880" cy="18288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0" y="2359152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Avg Recall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217920" y="25877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263640" y="2880360"/>
            <a:ext cx="2468880" cy="18288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17920" y="2935224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Avg F1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217920" y="316382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263640" y="3456432"/>
            <a:ext cx="2468880" cy="18288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217920" y="3511296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Class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217920" y="373989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263640" y="4032504"/>
            <a:ext cx="2468880" cy="18288"/>
          </a:xfrm>
          <a:prstGeom prst="rect">
            <a:avLst/>
          </a:prstGeom>
          <a:solidFill>
            <a:srgbClr val="1E3A5C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217920" y="4087368"/>
            <a:ext cx="25603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Class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217920" y="431596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72A46"/>
          </a:solidFill>
          <a:ln w="12700">
            <a:solidFill>
              <a:srgbClr val="172A4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EEG-Based Emotion Classification  |  SEED Dataset &amp; SVM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457200"/>
            <a:ext cx="3657600" cy="3657600"/>
          </a:xfrm>
          <a:prstGeom prst="ellipse">
            <a:avLst/>
          </a:prstGeom>
          <a:solidFill>
            <a:srgbClr val="00C4CC">
              <a:alpha val="10000"/>
            </a:srgbClr>
          </a:solidFill>
          <a:ln w="12700">
            <a:solidFill>
              <a:srgbClr val="00C4CC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4FC3F7">
              <a:alpha val="8000"/>
            </a:srgbClr>
          </a:solidFill>
          <a:ln w="12700">
            <a:solidFill>
              <a:srgbClr val="4FC3F7">
                <a:alpha val="12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6400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3200400" y="1627632"/>
            <a:ext cx="2743200" cy="54864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7830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EEG-Based Emotion Classification using SEED Dataset &amp; SVM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8229600" cy="1325880"/>
          </a:xfrm>
          <a:prstGeom prst="rect">
            <a:avLst/>
          </a:prstGeom>
          <a:solidFill>
            <a:srgbClr val="172A46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5146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65.17%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40080" y="29992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249424" y="25146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de_LDS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249424" y="29992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EEG Features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58768" y="25146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858768" y="29992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68112" y="25146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95%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468112" y="29992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Kept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077456" y="25146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3-Class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077456" y="299923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 States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286000" y="3886200"/>
            <a:ext cx="4572000" cy="475488"/>
          </a:xfrm>
          <a:prstGeom prst="rect">
            <a:avLst/>
          </a:prstGeom>
          <a:solidFill>
            <a:srgbClr val="172A46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0" y="3904488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github.com/Sumer7568/seed-emotion-classification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solidFill>
            <a:srgbClr val="172A46"/>
          </a:solidFill>
          <a:ln w="12700">
            <a:solidFill>
              <a:srgbClr val="172A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0" y="4983480"/>
            <a:ext cx="9144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Dataset  |  SVM Classification  |  Adaptive Recommendations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798</Words>
  <Application>Microsoft Office PowerPoint</Application>
  <PresentationFormat>On-screen Show (16:9)</PresentationFormat>
  <Paragraphs>193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EEG-Based Emotion Classification using SEED Dataset</dc:title>
  <dc:subject>PptxGenJS Presentation</dc:subject>
  <dc:creator>PptxGenJS</dc:creator>
  <cp:lastModifiedBy>singhsumersingh35@gmail.com</cp:lastModifiedBy>
  <cp:revision>7</cp:revision>
  <dcterms:created xsi:type="dcterms:W3CDTF">2026-05-31T19:17:44Z</dcterms:created>
  <dcterms:modified xsi:type="dcterms:W3CDTF">2026-05-31T20:52:45Z</dcterms:modified>
</cp:coreProperties>
</file>